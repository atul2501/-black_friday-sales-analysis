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E4FF"/>
    <a:srgbClr val="061426"/>
    <a:srgbClr val="FFFFFF"/>
    <a:srgbClr val="5A5A5A"/>
    <a:srgbClr val="707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B24285-CB20-4BD6-B6DF-99AACBD5C111}" v="89" dt="2025-11-08T15:43:46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64" autoAdjust="0"/>
  </p:normalViewPr>
  <p:slideViewPr>
    <p:cSldViewPr snapToGrid="0">
      <p:cViewPr varScale="1">
        <p:scale>
          <a:sx n="105" d="100"/>
          <a:sy n="105" d="100"/>
        </p:scale>
        <p:origin x="246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E4A3F5-F976-661F-3A35-3D88A3F46A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54D59-010C-9E31-FB0C-DFD4736145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C9C637-EDED-49D4-8407-17B298AEFAB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F486DA-2524-298A-FD52-0FE3A66010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1EA1C-FF1C-EB4E-671B-3E5888FB97A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FBA6CC-F786-4D88-90D2-6DF43409B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34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F7B8B-E8E4-41B5-B2BF-C32D67A5BFC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7C96D-DE74-4261-A8B5-D5024282E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93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7C96D-DE74-4261-A8B5-D5024282EC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24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FC7F008-A8E3-EB10-8563-D988CA1EBB43}"/>
              </a:ext>
            </a:extLst>
          </p:cNvPr>
          <p:cNvSpPr/>
          <p:nvPr userDrawn="1"/>
        </p:nvSpPr>
        <p:spPr>
          <a:xfrm>
            <a:off x="152400" y="1264444"/>
            <a:ext cx="4886324" cy="896938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56CACA-EFE5-F32D-E0F2-D890EE5091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1" y="1133475"/>
            <a:ext cx="5091904" cy="102790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FFFFFF"/>
            </a:solidFill>
          </a:ln>
        </p:spPr>
        <p:txBody>
          <a:bodyPr anchor="b"/>
          <a:lstStyle>
            <a:lvl1pPr>
              <a:defRPr sz="32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dirty="0"/>
              <a:t>Black Friday Sales Analysis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70603D-6306-9A7B-8989-EE238769D3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02288" y="992187"/>
            <a:ext cx="6172200" cy="500697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263A2-399A-DC1A-C2D3-189D0A6891F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61937" y="3305175"/>
            <a:ext cx="4621212" cy="514350"/>
          </a:xfrm>
          <a:ln w="6350">
            <a:solidFill>
              <a:srgbClr val="061426"/>
            </a:solidFill>
          </a:ln>
        </p:spPr>
        <p:txBody>
          <a:bodyPr/>
          <a:lstStyle>
            <a:lvl1pPr marL="0" indent="0">
              <a:buNone/>
              <a:defRPr sz="2000" b="1" i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A Strategic Analysis for Marketing”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7E1E1-7F2A-FCB9-5D7C-1946C6F7B1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2185553" y="6105526"/>
            <a:ext cx="2533655" cy="6159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/>
          <a:lstStyle>
            <a:lvl1pPr>
              <a:defRPr sz="1600">
                <a:solidFill>
                  <a:srgbClr val="707070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                </a:t>
            </a:r>
          </a:p>
          <a:p>
            <a:r>
              <a:rPr lang="en-US" dirty="0">
                <a:solidFill>
                  <a:srgbClr val="5A5A5A"/>
                </a:solidFill>
              </a:rPr>
              <a:t>          Executive Summary 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E8F85-486E-9CB3-6079-9604D58C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9212" y="6356350"/>
            <a:ext cx="3495675" cy="365125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>
            <a:lvl1pP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 Created by Rohit Chouhan </a:t>
            </a:r>
            <a:endParaRPr lang="en-US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8CBCE-C304-F490-0C71-76F63058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57744" y="6356350"/>
            <a:ext cx="3286130" cy="365125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>
            <a:lvl1pPr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Tools: SQL • Python • Power BI</a:t>
            </a:r>
            <a:endParaRPr lang="en-US" sz="1600" dirty="0"/>
          </a:p>
        </p:txBody>
      </p:sp>
      <p:pic>
        <p:nvPicPr>
          <p:cNvPr id="11" name="Picture 10" descr="A group of people sitting around a table&#10;&#10;AI-generated content may be incorrect.">
            <a:extLst>
              <a:ext uri="{FF2B5EF4-FFF2-40B4-BE49-F238E27FC236}">
                <a16:creationId xmlns:a16="http://schemas.microsoft.com/office/drawing/2014/main" id="{9C3DBC80-88DD-116D-FD89-86980B9673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449" y="447676"/>
            <a:ext cx="6424613" cy="565785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  <a:effectLst>
            <a:outerShdw blurRad="88900" dist="50800" dir="5400000" algn="ctr" rotWithShape="0">
              <a:srgbClr val="000000">
                <a:alpha val="42000"/>
              </a:srgbClr>
            </a:outerShdw>
          </a:effec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3C9F85D-0B2F-29BC-A930-F4C7B27F62DF}"/>
              </a:ext>
            </a:extLst>
          </p:cNvPr>
          <p:cNvCxnSpPr>
            <a:cxnSpLocks/>
          </p:cNvCxnSpPr>
          <p:nvPr userDrawn="1"/>
        </p:nvCxnSpPr>
        <p:spPr>
          <a:xfrm>
            <a:off x="4574031" y="6429375"/>
            <a:ext cx="0" cy="219075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B04B180-5B89-B826-803F-87FE8C7267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0054363" y="6429375"/>
            <a:ext cx="0" cy="2190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0598E8E-4D29-D35D-F86D-45F947C1AF4F}"/>
              </a:ext>
            </a:extLst>
          </p:cNvPr>
          <p:cNvCxnSpPr>
            <a:cxnSpLocks/>
          </p:cNvCxnSpPr>
          <p:nvPr userDrawn="1"/>
        </p:nvCxnSpPr>
        <p:spPr>
          <a:xfrm>
            <a:off x="7141140" y="6438900"/>
            <a:ext cx="0" cy="2095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513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07556-37BE-1FF4-BF35-2D66A780A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22F75-4497-1DF4-A9C2-810218140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46785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02895-6ED8-CF93-EACB-6DB83C1A3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C9645-4B3C-3B1B-7659-76B78E810C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3EDE56-EAF5-40A1-AC97-FC2DBB36E3A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2E331-8BCB-3A3F-274A-0DC2A61A8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29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1C85E1-0973-8F45-6424-AAB1D899A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F2864-2EC1-35C7-BDD1-2A492880E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58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42E11-5E61-B21A-5450-A5D99049B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76B11-2242-8414-42C0-021787A75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3CDD9-12FF-A0F5-B0B4-B58380D17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18304" y="6356350"/>
            <a:ext cx="3449839" cy="365125"/>
          </a:xfrm>
        </p:spPr>
        <p:txBody>
          <a:bodyPr/>
          <a:lstStyle/>
          <a:p>
            <a:r>
              <a:rPr lang="en-US" dirty="0"/>
              <a:t> Created by Atul Yadav</a:t>
            </a:r>
            <a:endParaRPr lang="en-US" sz="16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D14A36-7A7C-2B25-B879-258F99DA9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2571738" y="6105526"/>
            <a:ext cx="1980587" cy="615950"/>
          </a:xfrm>
        </p:spPr>
        <p:txBody>
          <a:bodyPr/>
          <a:lstStyle/>
          <a:p>
            <a:r>
              <a:rPr lang="en-US" dirty="0"/>
              <a:t>                </a:t>
            </a:r>
          </a:p>
          <a:p>
            <a:r>
              <a:rPr lang="en-US" dirty="0">
                <a:solidFill>
                  <a:srgbClr val="5A5A5A"/>
                </a:solidFill>
              </a:rPr>
              <a:t>Executive Summary 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69273-8478-50C0-CDA1-7FB360C03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61984" y="6356350"/>
            <a:ext cx="3286130" cy="365125"/>
          </a:xfrm>
        </p:spPr>
        <p:txBody>
          <a:bodyPr/>
          <a:lstStyle/>
          <a:p>
            <a:r>
              <a:rPr lang="en-US" dirty="0"/>
              <a:t>Tools: SQL • Python • Power BI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23992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4B7A-C1BB-BCF2-CBAF-A67150DB0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2619"/>
            <a:ext cx="9467850" cy="914400"/>
          </a:xfrm>
        </p:spPr>
        <p:txBody>
          <a:bodyPr>
            <a:normAutofit/>
          </a:bodyPr>
          <a:lstStyle/>
          <a:p>
            <a:r>
              <a:rPr lang="en-US" sz="4800" b="1" i="1" dirty="0">
                <a:solidFill>
                  <a:srgbClr val="061426"/>
                </a:solidFill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Project Objective &amp; Approach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9FF6F4-0676-4C3C-BB61-C9B716665A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37186" y="2518563"/>
            <a:ext cx="994041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used: SQL (data extraction), Python (data cleaning &amp; EDA), Power BI (visual dashboard).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buying patterns, customer segments, and product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Enable data-driven decision-making for future campaigns.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Graphic 5" descr="Database with solid fill">
            <a:extLst>
              <a:ext uri="{FF2B5EF4-FFF2-40B4-BE49-F238E27FC236}">
                <a16:creationId xmlns:a16="http://schemas.microsoft.com/office/drawing/2014/main" id="{297C3E84-92A0-A5C4-3E9B-3BF678043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987" y="5597013"/>
            <a:ext cx="914400" cy="914400"/>
          </a:xfrm>
          <a:prstGeom prst="rect">
            <a:avLst/>
          </a:prstGeom>
        </p:spPr>
      </p:pic>
      <p:pic>
        <p:nvPicPr>
          <p:cNvPr id="8" name="Graphic 7" descr="Bar chart with solid fill">
            <a:extLst>
              <a:ext uri="{FF2B5EF4-FFF2-40B4-BE49-F238E27FC236}">
                <a16:creationId xmlns:a16="http://schemas.microsoft.com/office/drawing/2014/main" id="{1050DD4D-1588-4F25-8CC2-CD5FFE464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36490" y="5597013"/>
            <a:ext cx="914400" cy="914400"/>
          </a:xfrm>
          <a:prstGeom prst="rect">
            <a:avLst/>
          </a:prstGeom>
        </p:spPr>
      </p:pic>
      <p:pic>
        <p:nvPicPr>
          <p:cNvPr id="10" name="Graphic 9" descr="Atom with solid fill">
            <a:extLst>
              <a:ext uri="{FF2B5EF4-FFF2-40B4-BE49-F238E27FC236}">
                <a16:creationId xmlns:a16="http://schemas.microsoft.com/office/drawing/2014/main" id="{85A037A0-E219-FCBE-546C-62AB205C90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78096" y="5577349"/>
            <a:ext cx="914400" cy="914400"/>
          </a:xfrm>
          <a:prstGeom prst="rect">
            <a:avLst/>
          </a:prstGeom>
        </p:spPr>
      </p:pic>
      <p:pic>
        <p:nvPicPr>
          <p:cNvPr id="16" name="Graphic 15" descr="Head with gears with solid fill">
            <a:extLst>
              <a:ext uri="{FF2B5EF4-FFF2-40B4-BE49-F238E27FC236}">
                <a16:creationId xmlns:a16="http://schemas.microsoft.com/office/drawing/2014/main" id="{BADA4B13-0EC7-358B-94E6-4A1E1D21CB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63199" y="5597013"/>
            <a:ext cx="914400" cy="914400"/>
          </a:xfrm>
          <a:prstGeom prst="rect">
            <a:avLst/>
          </a:prstGeom>
        </p:spPr>
      </p:pic>
      <p:pic>
        <p:nvPicPr>
          <p:cNvPr id="18" name="Graphic 17" descr="Social network with solid fill">
            <a:extLst>
              <a:ext uri="{FF2B5EF4-FFF2-40B4-BE49-F238E27FC236}">
                <a16:creationId xmlns:a16="http://schemas.microsoft.com/office/drawing/2014/main" id="{935B61F6-F373-7A2D-3EAE-9C33F15A8B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92993" y="559701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49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DBE82-2181-35D3-A50D-AF01387D3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467850" cy="1042218"/>
          </a:xfrm>
        </p:spPr>
        <p:txBody>
          <a:bodyPr>
            <a:normAutofit/>
          </a:bodyPr>
          <a:lstStyle/>
          <a:p>
            <a:r>
              <a:rPr lang="en-US" sz="5400" b="1" i="1" dirty="0"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Data Preparation   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13AC7-4F40-90DA-D04E-6B7FC135D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5174" y="4237703"/>
            <a:ext cx="9144000" cy="2344994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dirty="0"/>
          </a:p>
          <a:p>
            <a:pPr marL="342900" indent="-342900" algn="l">
              <a:buFontTx/>
              <a:buChar char="-"/>
            </a:pPr>
            <a:r>
              <a:rPr lang="en-US" dirty="0"/>
              <a:t>Imported raw Black Friday dataset </a:t>
            </a:r>
            <a:r>
              <a:rPr lang="en-US" b="1" dirty="0"/>
              <a:t>(550K+ records).</a:t>
            </a:r>
          </a:p>
          <a:p>
            <a:pPr algn="l"/>
            <a:r>
              <a:rPr lang="en-US" dirty="0"/>
              <a:t>-    Used SQL for validation and </a:t>
            </a:r>
            <a:r>
              <a:rPr lang="en-US" b="1" dirty="0"/>
              <a:t>removing inconsistencies</a:t>
            </a:r>
            <a:r>
              <a:rPr lang="en-US" dirty="0"/>
              <a:t>.</a:t>
            </a:r>
          </a:p>
          <a:p>
            <a:pPr marL="342900" indent="-342900" algn="l">
              <a:buFontTx/>
              <a:buChar char="-"/>
            </a:pPr>
            <a:r>
              <a:rPr lang="en-US" dirty="0"/>
              <a:t>Python used to fill missing values, remove duplicates, and create derived  columns.</a:t>
            </a:r>
          </a:p>
          <a:p>
            <a:pPr algn="l"/>
            <a:r>
              <a:rPr lang="en-US" dirty="0"/>
              <a:t>-    Final cleaned data</a:t>
            </a:r>
            <a:r>
              <a:rPr lang="en-US" b="1" dirty="0"/>
              <a:t>: 90,813 records, 12 key attributes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C1B705-511D-9FD8-7B96-2FB6B711D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70039"/>
            <a:ext cx="12123174" cy="292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532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F4170-C580-52F5-BE0E-93196CB0D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7485"/>
            <a:ext cx="9467850" cy="914400"/>
          </a:xfrm>
        </p:spPr>
        <p:txBody>
          <a:bodyPr>
            <a:normAutofit fontScale="90000"/>
          </a:bodyPr>
          <a:lstStyle/>
          <a:p>
            <a:r>
              <a:rPr lang="en-US" sz="4800" b="1" i="1" dirty="0"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Exploratory</a:t>
            </a:r>
            <a:r>
              <a:rPr lang="en-US" sz="4800" dirty="0"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800" b="1" dirty="0"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Data Analysis (Python)</a:t>
            </a: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F53738EA-8C74-C7D2-531A-F53D041A8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13" y="1283110"/>
            <a:ext cx="5260258" cy="2733367"/>
          </a:xfrm>
          <a:prstGeom prst="rect">
            <a:avLst/>
          </a:prstGeom>
          <a:ln>
            <a:solidFill>
              <a:srgbClr val="FFFFFF"/>
            </a:solidFill>
          </a:ln>
        </p:spPr>
      </p:pic>
      <p:pic>
        <p:nvPicPr>
          <p:cNvPr id="11" name="Picture 10" descr="A screen shot of a graph&#10;&#10;AI-generated content may be incorrect.">
            <a:extLst>
              <a:ext uri="{FF2B5EF4-FFF2-40B4-BE49-F238E27FC236}">
                <a16:creationId xmlns:a16="http://schemas.microsoft.com/office/drawing/2014/main" id="{38395DAE-F124-0F2C-37FB-5A37CA2AE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381" y="1283110"/>
            <a:ext cx="5004619" cy="2733367"/>
          </a:xfrm>
          <a:prstGeom prst="rect">
            <a:avLst/>
          </a:prstGeom>
          <a:ln>
            <a:solidFill>
              <a:srgbClr val="061426"/>
            </a:solidFill>
          </a:ln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F04B9F43-14F7-329B-C863-861670F205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3774" y="4292939"/>
            <a:ext cx="967422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spending customer segment: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Married working professionals (Age 26–35)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 B contributed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42% of total sales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 customers showed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average transaction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&amp; 5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top-performing product categories.</a:t>
            </a:r>
          </a:p>
        </p:txBody>
      </p:sp>
    </p:spTree>
    <p:extLst>
      <p:ext uri="{BB962C8B-B14F-4D97-AF65-F5344CB8AC3E}">
        <p14:creationId xmlns:p14="http://schemas.microsoft.com/office/powerpoint/2010/main" val="2181233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53A47-EC38-1B16-D531-10D706B42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528" y="1337186"/>
            <a:ext cx="2054943" cy="1818815"/>
          </a:xfrm>
        </p:spPr>
        <p:txBody>
          <a:bodyPr/>
          <a:lstStyle/>
          <a:p>
            <a:r>
              <a:rPr lang="en-US" dirty="0"/>
              <a:t>n</a:t>
            </a:r>
          </a:p>
        </p:txBody>
      </p: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74D6DC89-D290-CBAD-056E-B5D9F4A15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0557"/>
            <a:ext cx="6168086" cy="3483429"/>
          </a:xfrm>
          <a:prstGeom prst="rect">
            <a:avLst/>
          </a:prstGeom>
        </p:spPr>
      </p:pic>
      <p:pic>
        <p:nvPicPr>
          <p:cNvPr id="11" name="Picture 10" descr="A diagram of a diagram&#10;&#10;AI-generated content may be incorrect.">
            <a:extLst>
              <a:ext uri="{FF2B5EF4-FFF2-40B4-BE49-F238E27FC236}">
                <a16:creationId xmlns:a16="http://schemas.microsoft.com/office/drawing/2014/main" id="{F2EA5189-3838-FDB1-C705-8B453FCE8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123" y="504391"/>
            <a:ext cx="5781368" cy="3569596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82F7CBDC-0864-C925-3976-3D855240D6E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8155" y="4489481"/>
            <a:ext cx="1208384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Heatmap: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Reveals strong positive correlation between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City Loyalty Index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Stay Years (0.96)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indicating loyal customers tend to stay longer.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Moderate Relationship: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Purchase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shows moderate correlation with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CLV (0.32)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suggesting customer lifetime value influences purchase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Boxplot Analysis: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Purchase distribution varies slightly across cities (A, B, C), with both marital groups showing similar median spending patterns.</a:t>
            </a:r>
          </a:p>
        </p:txBody>
      </p:sp>
    </p:spTree>
    <p:extLst>
      <p:ext uri="{BB962C8B-B14F-4D97-AF65-F5344CB8AC3E}">
        <p14:creationId xmlns:p14="http://schemas.microsoft.com/office/powerpoint/2010/main" val="1557161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C2C2-12F8-AE7F-C776-E98DB6332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155"/>
            <a:ext cx="9467850" cy="796413"/>
          </a:xfrm>
        </p:spPr>
        <p:txBody>
          <a:bodyPr>
            <a:normAutofit/>
          </a:bodyPr>
          <a:lstStyle/>
          <a:p>
            <a:r>
              <a:rPr lang="en-US" sz="4800" i="1" dirty="0"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Executive Dashboard Highlights</a:t>
            </a:r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AAB3CD64-F7D4-EDF3-3B73-BAE8782DF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4" y="1487746"/>
            <a:ext cx="4001058" cy="2534004"/>
          </a:xfrm>
          <a:prstGeom prst="rect">
            <a:avLst/>
          </a:prstGeom>
        </p:spPr>
      </p:pic>
      <p:pic>
        <p:nvPicPr>
          <p:cNvPr id="7" name="Picture 6" descr="A pie chart with numbers and a pie chart&#10;&#10;AI-generated content may be incorrect.">
            <a:extLst>
              <a:ext uri="{FF2B5EF4-FFF2-40B4-BE49-F238E27FC236}">
                <a16:creationId xmlns:a16="http://schemas.microsoft.com/office/drawing/2014/main" id="{C62A9789-4A9B-BD88-B19C-505B2E16F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200" y="1487746"/>
            <a:ext cx="4353533" cy="25340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A9085A-5D1C-E2DF-E406-695A8FF57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300" y="1487746"/>
            <a:ext cx="3585179" cy="2534004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98011CE7-1C94-C8CA-115C-F59DF0EF7CF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3574" y="4286721"/>
            <a:ext cx="12088426" cy="2351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City B leads in total sales (0.35bn)</a:t>
            </a:r>
            <a:r>
              <a:rPr lang="en-US" sz="1800" dirty="0"/>
              <a:t>, showing strong market dominance compared to other cities.</a:t>
            </a:r>
          </a:p>
          <a:p>
            <a:endParaRPr lang="en-US" sz="1800" dirty="0"/>
          </a:p>
          <a:p>
            <a:r>
              <a:rPr lang="en-US" sz="1800" b="1" dirty="0"/>
              <a:t>                      Customer base is well-balanced</a:t>
            </a:r>
            <a:r>
              <a:rPr lang="en-US" sz="1800" dirty="0"/>
              <a:t>, with new, returning, and loyal customers each contributing around one-third of total engagement.</a:t>
            </a:r>
          </a:p>
          <a:p>
            <a:endParaRPr lang="en-US" sz="1800" dirty="0"/>
          </a:p>
          <a:p>
            <a:r>
              <a:rPr lang="en-US" sz="1800" b="1" dirty="0"/>
              <a:t>                    Equal response rates across all spending categories</a:t>
            </a:r>
            <a:r>
              <a:rPr lang="en-US" sz="1800" dirty="0"/>
              <a:t> indicate consistent customer behavior, suggesting opportunities for targeted marketing.</a:t>
            </a:r>
          </a:p>
        </p:txBody>
      </p:sp>
    </p:spTree>
    <p:extLst>
      <p:ext uri="{BB962C8B-B14F-4D97-AF65-F5344CB8AC3E}">
        <p14:creationId xmlns:p14="http://schemas.microsoft.com/office/powerpoint/2010/main" val="2169865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DEBD4-43C2-B154-00D3-0711F3539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626" y="137653"/>
            <a:ext cx="11208774" cy="687295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Strategic Insights &amp;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8A423-D3A3-2A0A-C24E-3B467308E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110" y="1133061"/>
            <a:ext cx="10913806" cy="5587285"/>
          </a:xfrm>
        </p:spPr>
        <p:txBody>
          <a:bodyPr>
            <a:normAutofit fontScale="85000" lnSpcReduction="20000"/>
          </a:bodyPr>
          <a:lstStyle/>
          <a:p>
            <a:r>
              <a:rPr lang="en-US" sz="4300" dirty="0"/>
              <a:t>🧠 </a:t>
            </a:r>
            <a:r>
              <a:rPr lang="en-US" dirty="0">
                <a:highlight>
                  <a:srgbClr val="00FFFF"/>
                </a:highlight>
              </a:rPr>
              <a:t> </a:t>
            </a:r>
            <a:r>
              <a:rPr lang="en-US" b="1" dirty="0">
                <a:highlight>
                  <a:srgbClr val="00FFFF"/>
                </a:highlight>
              </a:rPr>
              <a:t>Customer-Centric Strategies</a:t>
            </a:r>
            <a:endParaRPr lang="en-US" b="1" dirty="0"/>
          </a:p>
          <a:p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🔹 </a:t>
            </a:r>
            <a:r>
              <a:rPr lang="en-US" sz="2000" b="1" i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Loyalty Rewards Program</a:t>
            </a:r>
          </a:p>
          <a:p>
            <a:endParaRPr lang="en-US" sz="20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Launch a </a:t>
            </a:r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tier-based loyalty program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(e.g., </a:t>
            </a:r>
            <a:r>
              <a:rPr lang="en-US" sz="2000" i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Silver, Gold, Platinum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) for </a:t>
            </a:r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repeat customers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.</a:t>
            </a:r>
          </a:p>
          <a:p>
            <a:pPr marL="342900" indent="-342900">
              <a:buFontTx/>
              <a:buChar char="-"/>
            </a:pPr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-  Offer </a:t>
            </a:r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5–10% additional discount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for Platinum tier or </a:t>
            </a:r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free delivery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on top-selling products.</a:t>
            </a:r>
          </a:p>
          <a:p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Encourage retention by rewarding points per purchase (e.g., ₹1 = 1 point; 1000 points = ₹100 off).</a:t>
            </a:r>
          </a:p>
          <a:p>
            <a:pPr marL="342900" indent="-342900">
              <a:buFontTx/>
              <a:buChar char="-"/>
            </a:pPr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 Personalize offers based on </a:t>
            </a:r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purchase history and city tier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(City A &amp; B customers spend more).</a:t>
            </a:r>
          </a:p>
          <a:p>
            <a:pPr marL="342900" indent="-342900">
              <a:buFontTx/>
              <a:buChar char="-"/>
            </a:pPr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📊 Data Backing:</a:t>
            </a:r>
          </a:p>
          <a:p>
            <a:b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sz="20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Repeat customers show </a:t>
            </a:r>
            <a:r>
              <a:rPr lang="en-US" sz="2000" b="1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1.8x higher average spend</a:t>
            </a:r>
            <a:r>
              <a:rPr lang="en-US" sz="20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than one-time buyers.</a:t>
            </a:r>
          </a:p>
          <a:p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💼 Expected Outcome:</a:t>
            </a:r>
          </a:p>
          <a:p>
            <a:b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sz="20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Boost customer retention by </a:t>
            </a:r>
            <a:r>
              <a:rPr lang="en-US" sz="2000" b="1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10–15%</a:t>
            </a:r>
            <a:r>
              <a:rPr lang="en-US" sz="20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and increase repeat purchase frequency</a:t>
            </a:r>
            <a:r>
              <a:rPr lang="en-US" sz="2000" dirty="0">
                <a:solidFill>
                  <a:srgbClr val="00B0F0"/>
                </a:solidFill>
              </a:rPr>
              <a:t>.</a:t>
            </a:r>
          </a:p>
          <a:p>
            <a:endParaRPr lang="en-US" sz="2000" b="1" dirty="0">
              <a:solidFill>
                <a:srgbClr val="00B0F0"/>
              </a:solidFill>
            </a:endParaRP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377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7C461-C2F9-C7C4-45C3-DCA7729C2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155"/>
            <a:ext cx="9467850" cy="1160206"/>
          </a:xfrm>
        </p:spPr>
        <p:txBody>
          <a:bodyPr/>
          <a:lstStyle/>
          <a:p>
            <a:r>
              <a:rPr lang="en-US" dirty="0">
                <a:highlight>
                  <a:srgbClr val="BDE4FF"/>
                </a:highlight>
              </a:rPr>
              <a:t>📦</a:t>
            </a:r>
            <a:r>
              <a:rPr lang="en-US" i="1" dirty="0">
                <a:highlight>
                  <a:srgbClr val="BDE4FF"/>
                </a:highlight>
              </a:rPr>
              <a:t> Product Strategies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534EBD-8DAF-0917-CE9F-D8F100CD581D}"/>
              </a:ext>
            </a:extLst>
          </p:cNvPr>
          <p:cNvSpPr txBox="1"/>
          <p:nvPr/>
        </p:nvSpPr>
        <p:spPr>
          <a:xfrm>
            <a:off x="3824748" y="146223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ighlight>
                  <a:srgbClr val="00FFFF"/>
                </a:highlight>
              </a:rPr>
              <a:t>Smart Bundling &amp; Dynamic Discounts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D7941C3-B54B-1263-27DE-1FE59D7FB2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8994" y="2029653"/>
            <a:ext cx="1202485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Bundle top categories (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1, 5, and 8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combo offers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“Buy 2 Get 1”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“Save 10% on bundled deals.”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 discounts on preferred products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loyalty members (e.g., additional 5% on Category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Power BI to monitor product demand in real time and apply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pricing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higher discounts in low-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performing cities or off-peak periods.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Highlight bundled deals in targeted ad campaigns.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                                                                📊 Data Backing: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70C0"/>
                </a:solidFill>
              </a:rPr>
              <a:t>                          Top 3 categories drive </a:t>
            </a:r>
            <a:r>
              <a:rPr lang="en-US" sz="1800" b="1" dirty="0">
                <a:solidFill>
                  <a:srgbClr val="0070C0"/>
                </a:solidFill>
              </a:rPr>
              <a:t>~55% of total sales</a:t>
            </a:r>
            <a:r>
              <a:rPr lang="en-US" sz="1800" dirty="0">
                <a:solidFill>
                  <a:srgbClr val="0070C0"/>
                </a:solidFill>
              </a:rPr>
              <a:t>; bundling increases average transaction value.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                                                           💼 Expected Outcome: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70C0"/>
                </a:solidFill>
              </a:rPr>
              <a:t>                           Increase </a:t>
            </a:r>
            <a:r>
              <a:rPr lang="en-US" sz="1800" b="1" dirty="0">
                <a:solidFill>
                  <a:srgbClr val="0070C0"/>
                </a:solidFill>
              </a:rPr>
              <a:t>Average Order Value (AOV)</a:t>
            </a:r>
            <a:r>
              <a:rPr lang="en-US" sz="1800" dirty="0">
                <a:solidFill>
                  <a:srgbClr val="0070C0"/>
                </a:solidFill>
              </a:rPr>
              <a:t> by </a:t>
            </a:r>
            <a:r>
              <a:rPr lang="en-US" sz="1800" b="1" dirty="0">
                <a:solidFill>
                  <a:srgbClr val="0070C0"/>
                </a:solidFill>
              </a:rPr>
              <a:t>12–18%</a:t>
            </a:r>
            <a:r>
              <a:rPr lang="en-US" sz="1800" dirty="0">
                <a:solidFill>
                  <a:srgbClr val="0070C0"/>
                </a:solidFill>
              </a:rPr>
              <a:t> and reduce unsold inventory by </a:t>
            </a:r>
            <a:r>
              <a:rPr lang="en-US" sz="1800" b="1" dirty="0">
                <a:solidFill>
                  <a:srgbClr val="0070C0"/>
                </a:solidFill>
              </a:rPr>
              <a:t>10–15%</a:t>
            </a:r>
            <a:r>
              <a:rPr lang="en-US" sz="1800" dirty="0">
                <a:solidFill>
                  <a:srgbClr val="0070C0"/>
                </a:solidFill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Graphic 7" descr="Business Growth with solid fill">
            <a:extLst>
              <a:ext uri="{FF2B5EF4-FFF2-40B4-BE49-F238E27FC236}">
                <a16:creationId xmlns:a16="http://schemas.microsoft.com/office/drawing/2014/main" id="{743EF9B3-951A-9B56-9F34-B102B5B50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8713" y="1297558"/>
            <a:ext cx="914400" cy="73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02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C694-EB40-9430-DA43-7BD28E49A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513"/>
            <a:ext cx="9467850" cy="1123122"/>
          </a:xfrm>
        </p:spPr>
        <p:txBody>
          <a:bodyPr/>
          <a:lstStyle/>
          <a:p>
            <a:r>
              <a:rPr lang="en-US" dirty="0"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📣 </a:t>
            </a:r>
            <a:r>
              <a:rPr lang="en-US" i="1" dirty="0">
                <a:highlight>
                  <a:srgbClr val="BDE4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Marketing Strategies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F70BE3-0EDA-81B5-3B23-066DB85315A4}"/>
              </a:ext>
            </a:extLst>
          </p:cNvPr>
          <p:cNvSpPr txBox="1"/>
          <p:nvPr/>
        </p:nvSpPr>
        <p:spPr>
          <a:xfrm>
            <a:off x="3814141" y="1338590"/>
            <a:ext cx="6097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00FFFF"/>
                </a:highlight>
              </a:rPr>
              <a:t>City-Level Campaign Optimization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24FAA36-8361-A7FE-31FA-7C15FD17161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68300" y="1986903"/>
            <a:ext cx="11947566" cy="453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Power BI city insights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top vs low-performing cities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reallocate ad budgets accordingly.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high-performing metros (City B): 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premium brand collaborations and influencer campaigns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Tier-2/3 cities (City C): launch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introductory cashback and referral schemes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boost adoption.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 promotions with seasonal spikes (festivals, payday weekends) and offer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“Early Access”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loyalty members.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           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                                                                      </a:t>
            </a:r>
            <a:r>
              <a:rPr lang="en-US" sz="1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📊 Data Backing: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1800" dirty="0">
                <a:solidFill>
                  <a:srgbClr val="0070C0"/>
                </a:solidFill>
              </a:rPr>
              <a:t>City B accounts for </a:t>
            </a:r>
            <a:r>
              <a:rPr lang="en-US" sz="1800" b="1" dirty="0">
                <a:solidFill>
                  <a:srgbClr val="0070C0"/>
                </a:solidFill>
              </a:rPr>
              <a:t>42% of total sales</a:t>
            </a:r>
            <a:r>
              <a:rPr lang="en-US" sz="1800" dirty="0">
                <a:solidFill>
                  <a:srgbClr val="0070C0"/>
                </a:solidFill>
              </a:rPr>
              <a:t>, while City C contributes less than </a:t>
            </a:r>
            <a:r>
              <a:rPr lang="en-US" sz="1800" b="1" dirty="0">
                <a:solidFill>
                  <a:srgbClr val="0070C0"/>
                </a:solidFill>
              </a:rPr>
              <a:t>15%</a:t>
            </a:r>
            <a:r>
              <a:rPr lang="en-US" sz="1800" dirty="0">
                <a:solidFill>
                  <a:srgbClr val="0070C0"/>
                </a:solidFill>
              </a:rPr>
              <a:t>.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                                                           💼 Expected Outcome: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/>
          </a:p>
          <a:p>
            <a:r>
              <a:rPr lang="en-US" sz="1800" dirty="0">
                <a:solidFill>
                  <a:srgbClr val="0070C0"/>
                </a:solidFill>
              </a:rPr>
              <a:t>Improve sales share in Tier-2/3 cities by </a:t>
            </a:r>
            <a:r>
              <a:rPr lang="en-US" sz="1800" b="1" dirty="0">
                <a:solidFill>
                  <a:srgbClr val="0070C0"/>
                </a:solidFill>
              </a:rPr>
              <a:t>10%</a:t>
            </a:r>
            <a:r>
              <a:rPr lang="en-US" sz="1800" dirty="0">
                <a:solidFill>
                  <a:srgbClr val="0070C0"/>
                </a:solidFill>
              </a:rPr>
              <a:t>, and overall campaign ROI by </a:t>
            </a:r>
            <a:r>
              <a:rPr lang="en-US" sz="1800" b="1" dirty="0">
                <a:solidFill>
                  <a:srgbClr val="0070C0"/>
                </a:solidFill>
              </a:rPr>
              <a:t>25%</a:t>
            </a:r>
            <a:r>
              <a:rPr lang="en-US" sz="1800" dirty="0">
                <a:solidFill>
                  <a:srgbClr val="0070C0"/>
                </a:solidFill>
              </a:rPr>
              <a:t>.</a:t>
            </a:r>
          </a:p>
        </p:txBody>
      </p:sp>
      <p:pic>
        <p:nvPicPr>
          <p:cNvPr id="8" name="Graphic 7" descr="City with solid fill">
            <a:extLst>
              <a:ext uri="{FF2B5EF4-FFF2-40B4-BE49-F238E27FC236}">
                <a16:creationId xmlns:a16="http://schemas.microsoft.com/office/drawing/2014/main" id="{222ED4EE-A4E2-E70A-9B86-899963E9F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56645" y="1140089"/>
            <a:ext cx="914400" cy="78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959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3C906-12AB-64F3-92CE-C1285821D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209"/>
            <a:ext cx="9467850" cy="66592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highlight>
                  <a:srgbClr val="BDE4FF"/>
                </a:highlight>
              </a:rPr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5D4A87-01C2-6814-304D-83D3FD3F9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165" y="1053548"/>
            <a:ext cx="10041835" cy="33837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🔹 Key Takeaways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5DDE61-6DBE-A9CE-F805-D9CA8913B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14724"/>
            <a:ext cx="121920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Analyzed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90K+ transactions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product categories and demographics.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Found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Occupation 4 and City 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top contributors to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Developed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Power BI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track KPIs and customer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Proposed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strategic initiatives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loyalty-driven personalization, smart bundling, and localized campaigns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 to increase revenue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25% YoY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6E995-2F95-025C-922B-F8F35360B1E3}"/>
              </a:ext>
            </a:extLst>
          </p:cNvPr>
          <p:cNvSpPr txBox="1"/>
          <p:nvPr/>
        </p:nvSpPr>
        <p:spPr>
          <a:xfrm>
            <a:off x="69575" y="4488120"/>
            <a:ext cx="1155920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Thank You</a:t>
            </a:r>
          </a:p>
          <a:p>
            <a:endParaRPr lang="en-US" sz="2400" dirty="0">
              <a:solidFill>
                <a:srgbClr val="0070C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400" dirty="0">
                <a:solidFill>
                  <a:srgbClr val="0070C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Black Friday Sales Analysis  </a:t>
            </a:r>
          </a:p>
          <a:p>
            <a:r>
              <a:rPr lang="en-US" sz="2000" dirty="0">
                <a:solidFill>
                  <a:srgbClr val="0070C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Executive Summary by Atul Yadav</a:t>
            </a:r>
          </a:p>
          <a:p>
            <a:r>
              <a:rPr lang="en-US" sz="2000" dirty="0">
                <a:solidFill>
                  <a:srgbClr val="0070C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Tools: SQL • Python • Power BI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925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768</Words>
  <Application>Microsoft Office PowerPoint</Application>
  <PresentationFormat>Widescreen</PresentationFormat>
  <Paragraphs>109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Arial Unicode MS</vt:lpstr>
      <vt:lpstr>Segoe UI Light</vt:lpstr>
      <vt:lpstr>Segoe UI Semibold</vt:lpstr>
      <vt:lpstr>Office Theme</vt:lpstr>
      <vt:lpstr>PowerPoint Presentation</vt:lpstr>
      <vt:lpstr>Project Objective &amp; Approach</vt:lpstr>
      <vt:lpstr>Data Preparation     </vt:lpstr>
      <vt:lpstr>Exploratory Data Analysis (Python)</vt:lpstr>
      <vt:lpstr>n</vt:lpstr>
      <vt:lpstr>Executive Dashboard Highlights</vt:lpstr>
      <vt:lpstr>Strategic Insights &amp; Recommendations</vt:lpstr>
      <vt:lpstr>📦 Product Strategies </vt:lpstr>
      <vt:lpstr>📣 Marketing Strategies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Rohit Chouhan</dc:creator>
  <cp:lastModifiedBy>ATUL YADAV</cp:lastModifiedBy>
  <cp:revision>3</cp:revision>
  <dcterms:created xsi:type="dcterms:W3CDTF">2025-11-05T02:31:28Z</dcterms:created>
  <dcterms:modified xsi:type="dcterms:W3CDTF">2025-12-16T09:18:56Z</dcterms:modified>
</cp:coreProperties>
</file>